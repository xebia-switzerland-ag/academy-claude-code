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the Q4 2024 Campaign Strategy &amp; Quarterly Business Review for TechNova. The presentation will cover comprehensive campaign performance analysis, strategic recommendations, and forward-looking guidance for Q1 2025. This session is designed for both internal stakeholders (TechNova CMO, VP Marketing, Digital Marketing Manager) and the Xebia agency team. Throughout this review, we'll examine detailed performance metrics across all paid marketing channels, analyze audience behavior, review competitive positioning, and provide strategic recommendations grounded in data-driven insights. The presentation will conclude with detailed proposals for Q1 2025 investments and test-and-learn initiatives. TechNova's cloud security and compliance automation solution is uniquely positioned in the DACH market, and our Q4 campaign strategy focused on reaching CISOs, VP Security roles, and IT Directors at mid-market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agenda outlines the complete structure of today's quarterly business review. We've organized the presentation to flow logically from high-level executive summary and key results, through detailed channel-by-channel performance analysis, followed by strategic insights derived from audience and creative testing, and concluding with forward-looking recommendations. The performance review section covers Google Search (both brand and generic/competitor terms), LinkedIn Account-Based Marketing and sponsored content, content syndication, and display and retargeting campaigns. We'll examine audience insights including persona targeting effectiveness, creative theme performance, and funnel conversion metrics from MQL through to closed won deals. The competitive landscape section includes auction insights and market trend analysis specific to the DACH cloud security market. The second half focuses on strategic planning, with detailed recommendations for Q1 2025 budget allocation, test-and-learn agenda items, and technology enablement. We've structured the presentation to allow for detailed questions at each section, and we've included comprehensive appendices with methodology, data sources, and glossary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2024 delivered exceptional results across all key performance indicators. Our €110,000 monthly budget allocation achieved 94% efficiency, meaning we optimized spending across all channels while maintaining quality lead generation. The 1,247 Marketing Qualified Leads we generated fed into the sales pipeline, resulting in 287 sales-qualified opportunities at an excellent cost per acquisition of €156, which is below our internal benchmark of €185. This demonstrates the effectiveness of our targeting and messaging strategy. The €3.2 million in generated pipeline represents exceptional value creation, with 42% of that pipeline directly attributable to our paid marketing channels. Google Search brand campaigns delivered outstanding returns, with a 1,847% return on ad spend, reflecting high intent from customers already researching TechNova. LinkedIn's Account-Based Marketing initiatives generated 3.1x return on investment in prospect engagement metrics. Most importantly, we exceeded our Average Contract Value targets with 103% achievement and closed 18 mid-market wins from our target customer personas, validating our positioning and messaging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Q4 performance exceeded targets across nearly all key performance indicators, demonstrating the effectiveness of our data-driven optimization approach and strategic channel mix. We generated 1,247 MQLs against a target of 1,100, representing a 13.4% overachievement. More importantly, we achieved this at a cost per MQL of €79, which is 10.1% below our target of €88, demonstrating that we're not only driving more volume but doing so more efficiently. The improvement in cost per lead was driven by several factors: improved audience targeting specificity, better messaging resonance with target personas, reduced spend on underperforming segments, and improved Quality Scores in search campaigns. Sales opportunities created totaled 287 against a target of 260, a 10.4% improvement. This conversion from MQL to opportunity demonstrates strong lead quality and effective sales engagement with marketing-generated leads. The €3.2M in pipeline generated exceeded our target of €2.8M by 14.3%, indicating strong deal flow from our marketing efforts and exceptional value creation. Customer acquisition cost improved dramatically to €156 versus a target of €190, representing a 17.9% improvement. This improvement is particularly significant as it demonstrates that we're achieving volume targets while simultaneously improving unit economics. This is the most important metric for demonstrating marketing ROI to finance and executive stakeholders. Our target persona conversion rate achieved 81% against a 75% target, validating our account-based marketing strategy and persona targeting approach. The 81% conversion means that of the leads we generate, four out of five are from our ideal customer profile. This high-quality mix directly contributes to higher close rates and better average contract values. Blended ROAS across all channels improved to 4.2x against a 3.5x target, driven primarily by brand search performance and LinkedIn ABM efficiency gains. This 20% improvement in overall return on ad spend validates our optimization efforts. Moving to Q1 2025, these strong baseline metrics provide confidence for expansion initiatives while maintaining efficiency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Q4 budget allocation totaled €110,000 per month on average, distributed strategically across five core channels based on performance data and strategic priorities. Google Search brand received the largest allocation at 38% (€42,000) because it delivers the highest return on investment with 1,847% ROAS, capturing high-intent customers already actively researching TechNova's solution. This channel shows consistently strong lead quality with 68.6% of leads converting from MQL to SQL, far above the 25% industry benchmark. LinkedIn combined ABM and sponsored content received 25% of budget (€28,000) to execute our sophisticated account-based marketing strategy targeting 250 key mid-market accounts across the DACH region. This allocation reflects the importance of precision targeting for our B2B SaaS solution in the mid-market segment where buying committees are complex and multi-stakeholder. Generic and competitor search received 20% (€22,000), driving lower-funnel prospects considering alternative solutions and capturing competitive demand. While CPCs are higher in generic searches, the lower-intent nature of the segment and lower conversion rates mean generic search should remain a supporting channel rather than primary investment. Content syndication allocated 11% (€12,000) supports top-of-funnel awareness building and nurturing through targeted content distribution to our buyer personas. Content syndication achieved exceptional lead quality with 62% conversion from download to MQL, the highest of any channel. Display and retargeting received 6% (€6,000) as a secondary channel supporting brand awareness and consideration. This allocation strategy prioritizes channels with proven ROI while maintaining sufficient investment in awareness and consideration channels to support pipeline growth. The budget reflects our Q4 strategic focus on driving quality leads from high-intent and strategically targeted accounts. Looking forward to Q1, this allocation provides a strong baseline for building on proven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Search brand campaigns delivered exceptional performance in Q4, generating 89,432 impressions and capturing 12,847 clicks at an outstanding 14.4% click-through rate, far exceeding the industry average of 6-8%. This indicates strong demand for TechNova's solution and effective ad copy resonance with our target audience. The average cost per click of €3.27 is well-controlled, resulting in a total spend of €42,000 and a lead cost of only €62 per MQL, which is excellent for a B2B SaaS solution. We generated 678 MQLs from brand search with a 5.3% conversion rate from landing page to MQL, reflecting effective landing page optimization and compelling value proposition messaging. The return on ad spend of 1,847% demonstrates the extreme efficiency of capturing high-intent customers already researching TechNova. Our top-performing keywords include direct brand searches ('TechNova' representing 18% of spend), solution-focused searches ('cloud security DACH' at 15%), and competitive searches ('CSPM solution' at 12%). Quality Score improved to 7.2 on average (up from 6.8 in Q3), indicating better ad relevance and landing page experience, which directly contributes to lower CPCs and improved positions. This channel consistently delivers our best performing leads and should remain a priority investment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Google Search brand campaigns delivered exceptional performance in Q4, generating 89,432 impressions and capturing 12,847 clicks at an outstanding 14.4% click-through rate, far exceeding the industry average of 6-8%. This indicates strong demand for TechNova's solution and effective ad copy resonance with our target audience. The average cost per click of €3.27 is well-controlled, resulting in a total spend of €42,000 and a lead cost of only €62 per MQL, which is excellent for a B2B SaaS solution. We generated 678 MQLs from brand search with a 5.3% conversion rate from landing page to MQL, reflecting effective landing page optimization and compelling value proposition messaging. The return on ad spend of 1,847% demonstrates the extreme efficiency of capturing high-intent customers already researching TechNova. Our top-performing keywords include direct brand searches ('TechNova' representing 18% of spend), solution-focused searches ('cloud security DACH' at 15%), and competitive searches ('CSPM solution' at 12%). Quality Score improved to 7.2 on average (up from 6.8 in Q3), indicating better ad relevance and landing page experience, which directly contributes to lower CPCs and improved positions. This channel consistently delivers our best performing leads and should remain a priority investment area. The brand search performance validates that our product-market fit and value proposition resonate strongly with active prospects. Looking forward, maintaining dominance in brand search while improving quality score to 7.5+ will be a focus area. We should also explore brand search expansion into adjacent keywords and related solution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Account-Based Marketing delivered exceptional results in Q4, focusing on precision targeting of 250 key mid-market accounts across the DACH region. The campaign generated 67,890 impressions with a respectable 6.2% click-through rate, demonstrating strong relevance and appeal to our target decision-makers. We achieved 4,234 profile views, indicating deep engagement from our target personas. The most important metric is the 87 opportunities directly attributed to ABM campaigns, generating €2.1M in deal value—representing a 3.1x return on investment on engagement activities. The average time from LinkedIn engagement to sales opportunity was just 12 days, indicating high-quality leads and fast sales cycle acceleration. Our winning personas through ABM were Security Directors (34% of engagement), CISOs (28%), and VP Infrastructure (23%), confirming our persona targeting strategy effectiveness. The target account engagement rate of 56% demonstrates strong penetration of our core accounts, and the 78% concentration of engagements from IT services and financial services verticals aligns with our highest-value market segments. This ABM strategy has proven highly effective and should be expanded in Q1 2025 with additional account list development and creative personalization.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LinkedIn Account-Based Marketing delivered exceptional results in Q4, focusing on precision targeting of 250 key mid-market accounts across the DACH region. The campaign generated 67,890 impressions with a respectable 6.2% click-through rate, demonstrating strong relevance and appeal to our target decision-makers. We achieved 4,234 profile views, indicating deep engagement from our target personas. The most important metric is the 87 opportunities directly attributed to ABM campaigns, generating €2.1M in deal value—representing a 3.1x return on investment on engagement activities. The average time from LinkedIn engagement to sales opportunity was just 12 days, indicating high-quality leads and fast sales cycle acceleration. Our winning personas through ABM were Security Directors (34% of engagement), CISOs (28%), and VP Infrastructure (23%), confirming our persona targeting strategy effectiveness. The target account engagement rate of 56% demonstrates strong penetration of our core accounts, and the 78% concentration of engagements from IT services and financial services verticals aligns with our highest-value market segments. This ABM strategy has proven highly effective and should be expanded in Q1 2025 with additional account list development and creative personalization. The sophisticated targeting capability we've developed through LinkedIn ABM represents a significant competitive advantage, enabling us to reach decision-makers at scale while maintaining message personalization at the account level. This channel represents our highest ROI investment and should be the primary growth driver for Q1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syndication delivered exceptional lead generation efficiency in Q4, generating 1,847 total downloads across our partner networks including LinkedIn, G2, and CloudSecurity.org at a very low cost of €6.50 per download. The €12,000 monthly investment generated 292 MQLs at a cost per lead of just €41, and remarkably achieved the highest lead quality metrics of any channel with a 62% conversion rate from download to MQL. This suggests that prospects engaging with gated content are highly qualified and ready for sales engagement. Our top-performing content included the 'CSPM Implementation Guide' which accounted for 34% of all downloads, validating demand for practical implementation guidance, and 'Security in DACH: 2024 Compliance Trends' at 28% of downloads, reflecting strong regional relevance. The average time in nurture for content-sourced leads was 18 days before conversion to MQL, indicating an effective nurturing process. Geographic performance strongly aligned with our strategic focus, with Germany comprising 56% of downloads, UK 27%, and Benelux 17%, demonstrating excellent targeting precision. Content syndication has emerged as one of our highest-efficiency channels and should be prioritized for budget expansion in Q1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and retargeting campaigns served as a secondary awareness channel, generating 1,234,567 impressions across Google Display Network and programmatic platforms at a very cost-efficient rate. While the overall click-through rate of 0.23% is low, this is typical for display advertising and reflects the lower-intent nature of the channel. The €6,000 monthly investment generated 2,847 clicks at a cost per click of €2.11, representing excellent cost efficiency. Retargeting comprised 78% of the channel's clicks and achieved an impressive 8.2% engagement rate among previous site visitors, indicating strong message relevance to warm audiences. We measured an 18% increase in brand recall among exposed audiences, validating the awareness-building function of this channel. Prospecting campaigns, while comprising only 22% of clicks, served an important role in expanding reach to cold audiences at a cost per thousand impressions of €4.23. Display campaigns generated 89 MQLs with a cost per lead of €67.41 and a 3.1% conversion rate, representing a 780% ROAS. Creative performance analysis revealed that static image ads significantly outperformed animated ads by 2.3x, likely because our audience finds static, professional creative more credible and relevant. Messaging that emphasized 'security' over 'compliance' generated 34% higher click-through rates, providing insight into audience language preferences. While display remains a smaller channel in our mix, it plays an important supporting role in brand awareness and retargeting warm prospects.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Persona-level analysis reveals significant performance variance across our target decision-maker roles. CISOs represented our highest-value persona with 386 MQLs and a 6.2% conversion rate, generating leads with an average value of €4,200. CISOs showed strongest response to Search (42% of attribution) and LinkedIn ABM campaigns (38%), confirming that executive security leaders actively research solutions directly and respond well to targeted account messaging. VP Security roles generated 294 MQLs with a 5.8% conversion rate and €3,800 average lead value, showing slightly higher engagement with LinkedIn (45%) and content syndication (30%), suggesting VP Security roles prefer thought leadership and industry insights. IT Directors contributed 312 MQLs with a 5.1% conversion rate and lower average value of €2,900, showing strong response to direct search campaigns (51%) but lower engagement with brand or ABM messaging. Compliance Officers represented a smaller segment with 178 MQLs and a 4.2% conversion rate with an average lead value of €2,100, showing strongest engagement with educational content (52%) and LinkedIn (32%), likely reflecting their need for detailed compliance information. Infrastructure Managers were the smallest contributor at 77 MQLs with a 3.1% conversion rate and lowest average value of €1,600, showing highest engagement with direct search (61%) but lower overall engagement levels. This analysis indicates we should increase focus and budget allocation toward CISO and VP Security personas while optimizing messaging for IT Directors to improve their conversion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Q4 creative testing revealed clear winners that should guide Q1 2025 campaign development. Risk-based messaging significantly outperformed compliance-focused messaging, with 'Reduce security risk by 40%' generating 2.1x higher click-through rates compared to procedural messaging like 'Automate compliance tasks.' This indicates that our audience is driven by risk mitigation concerns, not mere efficiency gains. Proof and credibility elements dramatically improved performance, with customer testimonials and case studies driving 34% higher conversion rates. Creatives that prominently featured G2 ratings were in the top 15% of all performers, validating the importance of third-party social proof in the B2B SaaS buying cycle. Competitive and FOMO-driven messaging proved exceptionally effective, with ads positioning TechNova as the choice of 'Leading CISOs' and highlighting that 'Competitors are switching to TechNova' achieving an average click-through rate of 3.8%. Regional and vertical-specific messaging dramatically outperformed generic messaging, with GDPR and DACH-focused compliance messaging beating generic alternatives by 2.4x, and industry-specific messaging (financial services, healthcare) outperforming generic by 1.9x. Visual design strategy shows that professional, technical illustrations were 3.2x more effective than generic stock photography, likely because our technical audience appreciates professional design that reflects product sophistication. The blue and purple color palette achieved 28% higher engagement than alternative color schemes, suggesting alignment with our brand and broader tech industry color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creative testing also revealed clear underperformers that inform our optimization strategy. Feature-first messaging focusing on technical capabilities like 'Automated CSPM with machine learning' underperformed outcome-focused messaging by 3.4x. This lesson is critical—our audience cares about business outcomes (risk reduction, compliance achievement) far more than the technical features enabling those outcomes. Overly technical language and jargon developed for IT or developer audiences drove 67% lower click-through rates than accessible language that explains benefits in business terms. This suggests that while our primary decision-makers (CISOs, VP Security) understand technical concepts, they want messaging in business and risk language, not pure technical jargon. Generic stock photography consistently underperformed custom professional illustrations by 3.2x, indicating that our sophisticated B2B audience values professional custom design that suggests product maturity and company quality. Pricing and discount-focused creative achieved very low performance with only 0.8% click-through rate compared to 2.2% for value-focused messaging, indicating that security leaders are not motivated by price but by value delivered and risk reduction. Call-to-action testing revealed that 'Request Demo' significantly underperformed 'Reduce Security Risk Today' by 1.7x, suggesting that leading with the desired outcome rather than the action drives stronger engagement. These lessons will directly inform creative development priorities for Q1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funnel analysis demonstrates remarkably strong lead quality and sales efficiency. Of 1,247 MQLs generated in Q4, 856 converted to SQL (68.6% conversion rate), which is an exceptional 2.8x above the industry benchmark of approximately 25% for B2B SaaS. This exceptional conversion indicates that our targeting strategy, persona focus, and messaging are highly aligned with genuine buyer intent. The 23% conversion from SQL to opportunity (287 opportunities from 856 SQLs) is aligned with our internal targets and reflects normal sales qualification and proposal development timelines. The average time to move from MQL to SQL is only 8 days, indicating fast sales team responsiveness and lead urgency. Moving to sales opportunities, we tracked 287 total opportunities created with an average value of €42,000, validating our ACV target achievement. The conversion from opportunity to negotiations/closing stage was 3.8% (47 of 287), with an average of 34 days in this stage, reflecting the typical enterprise sales cycle for security solutions. The ultimate closed-won rate of 2.5% (31 of 1,247 from MQL to closed won) represents strong overall funnel efficiency. This conversion data strongly validates that our paid marketing investments are generating leads that the sales team values and can efficiently convert to opportunities and closed deals. The data also suggests that our sales and marketing alignment is working well, with rapid sales team response to incoming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attribution analysis reveals that our paid channels generated €9.97M in total pipeline value, representing approximately 50% of TechNova's total new pipeline in Q4. This is a substantial contribution from our €110,000 monthly investment and demonstrates clear ROI. Google Search brand campaigns led in absolute pipeline generation with €4.34M (22% of total pipeline) from 103 opportunities, representing the highest-value channel at a cost of €0.97 per €1 of pipeline generated. LinkedIn ABM contributed €2.10M (11% of total) from 87 opportunities at an excellent €0.76 cost per €1 of pipeline, demonstrating strong efficiency in our account-based approach. Content syndication generated €1.82M (9% of total) from 62 opportunities at the best cost efficiency of €0.66 per €1 of pipeline, validating the value of our content strategy. Google Search generic and competitor campaigns generated €0.98M (5%) from 24 opportunities but at a less efficient €2.24 cost per pipeline €1, reflecting the lower-value nature of this segment. LinkedIn sponsored content contributed €0.45M (2%) while display and retargeting together added €0.28M (1%), confirming these as supporting awareness channels rather than primary lead generation drivers. The €1.10 average cost per €1 of pipeline across all paid channels is excellent, demonstrating that our paid marketing investments are generating substantial pipeline value. The remaining 50% of pipeline attributed to organic and other channels validates the importance of integrated marketing that combines paid, earned, and owned media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landscape analysis shows a moderately concentrated market with Qualys maintaining the largest presence at 28% of competitor auction mentions, followed by Tenable at 22% and Rapid7 at 18%. The emergence of cloud security as a specialized category has created an expanding market where TechNova can effectively compete. Cost-per-click inflation of 18% from Q3 to Q4 across cloud security and CSPM keywords is a notable trend driven by increased bidding from multiple competitors. Despite this inflation, our cost per acquisition remains highly efficient at €156. Our ad share analysis reveals strong dominance in branded terms (94% share of TechNova brand searches), but only 18% share in generic market searches and 12% in competitor searches, indicating significant expansion opportunity. Sales win rate analysis is particularly encouraging, showing TechNova achieving a 31% win rate in competitive sales situations versus Qualys at 22%, Tenable at 19%, and Rapid7 at 14%. This demonstrates strong competitive positioning once we've successfully engaged prospects. In the DACH region specifically, Qualys maintains the strongest presence with 31% of competitive mentions, but TechNova is emerging as the clear #2 player with 18% of mentions and growing traction. This competitive strength provides confidence for Q1 2025 expansion of competitive targeting campaigns. We should continue monitoring CPC trends and adjust bidding strategies to maintain ROI targets despite auction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DACH cloud security market presents significant growth opportunity, with the overall market projected to grow at a 34% compound annual growth rate through 2027. The CSPM (Cloud Security Posture Management) sub-segment is growing even faster at 47% year-over-year, representing the hottest segment in the market and precisely where TechNova competes. Regulatory drivers are creating substantial tailwinds, with the NIS2 Directive implementation across the EU establishing new baseline security requirements and compliance obligations. Germany's IT Security Act 2.0 is driving particular urgency in our primary market, creating board and executive awareness of security requirements. Budget trends strongly support expansion, with 67% of DACH CISOs planning to increase overall security budgets in 2025, and cloud security receiving disproportionate budget increases of 42% compared to only 18% for traditional security. This budget shift directly supports increased spend in digital marketing for cloud security solutions. Decision-making complexity has increased, with 78% of buying situations now involving multiple stakeholders including Security, Cloud Infrastructure, and Compliance teams—a trend that aligns well with our ABM strategy that targets multiple personas across organizations. Average sales cycles for mid-market deals have extended to 120-180 days, reflecting increased evaluation rigor and multi-stakeholder involvement. Technology adoption trends show 73% of mid-market companies increasing cloud infrastructure investment, with 54% actively evaluating cloud-native security solutions like TechNova's. These macro trends create a highly favorable environment for our Q1 2025 expansion, with regulatory drivers, budget growth, and technology adoption all accelerating demand for our solution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DACH cloud security market presents significant growth opportunity, with the overall market projected to grow at a 34% compound annual growth rate through 2027. The CSPM (Cloud Security Posture Management) sub-segment is growing even faster at 47% year-over-year, representing the hottest segment in the market and precisely where TechNova competes with exceptional positioning. Regulatory drivers are creating substantial tailwinds for the entire market. The NIS2 Directive implementation across the EU is establishing new baseline security requirements and compliance obligations that will drive enterprises to evaluate and implement new security solutions. Germany's IT Security Act 2.0 is driving particular urgency in our primary market, creating board and executive awareness of security requirements that filter down to security team budgets. Budget trends strongly support expansion, with 67% of DACH CISOs planning to increase overall security budgets in 2025, and cloud security receiving disproportionate budget increases of 42% compared to only 18% for traditional security. This budget shift directly supports our ability to increase investment in digital marketing for cloud security solutions with confidence that we're capturing growing budgets. Decision-making complexity has increased, with 78% of buying situations now involving multiple stakeholders including Security, Cloud Infrastructure, and Compliance teams—a trend that aligns well with our ABM strategy that targets multiple personas across organizations simultaneously. Average sales cycles for mid-market deals have extended to 120-180 days, reflecting increased evaluation rigor and multi-stakeholder involvement, which means longer customer journeys that benefit from multiple touchpoints and nurturing. Technology adoption trends show 73% of mid-market companies increasing cloud infrastructure investment, with 54% actively evaluating cloud-native security solutions like TechNova's. These macro trends create a highly favorable environment for our Q1 2025 expansion, with regulatory drivers, budget growth, and technology adoption all accelerating demand for our solution category. This market tailwind provides confidence for aggressive Q1 investment and expansion initiatives.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CSPM campaign breakthrough was one of our most successful Q4 initiatives, demonstrating the power of vertical and solution-specific positioning in driving exceptional results. We launched a dedicated campaign focused specifically on Cloud Security Posture Management with tailored messaging for financial services and healthcare verticals, which represent our highest-value market segments. The decision to focus on CSPM rather than broader cloud security was strategic—the CSPM sub-segment is growing at 47% year-over-year and our solution has particular competitive advantage in this category. Financial services companies face increasing regulatory requirements around data security and are adopting CSPM to manage cloud infrastructure security risks. Healthcare providers similarly face HIPAA compliance requirements and are evaluating CSPM solutions to manage compliance across cloud environments. The campaign generated 156 MQLs over an 8-week window, with 68 converting to SQL and ultimately 12 closed deals averaging €52,000 in ACV, exceeding our target deal size of €42,000. The fact that CSPM-focused campaigns drove larger deal sizes (24% above target ACV) suggests that prospects who self-identify as needing CSPM solutions are higher-value customers, validating the vertical specialization strategy. The financial performance was exceptional, with a 2,340% return on ad spend, cost per closed deal of only €789, and €1.8M in pipeline generated. These metrics represent some of the best performance we achieved in Q4. One key success factor was the use of vertical-specific messaging that opened with regulatory requirements and compliance drivers specific to financial services and healthcare. This messaging approach drove click-through rates 3.2x higher than generic CSPM messaging and significantly improved sales conversion rates. The messaging framework developed through this campaign has been tested and proven, providing confidence for scaling. We recommend expanding this vertical-specific approach to four additional verticals (manufacturing, utilities, healthcare IT providers, insurance) in Q1 2025 with a 50% increased budget allocation. The success of this campaign provides a clear template for how to structure campaigns around specific solutions and vertical use cases rather than broad product category messaging. The insight that vertical-specific positioning drives superior metrics should influence all campaign development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conquest search strategy proved highly effective in Q4, directly capturing prospects actively evaluating competitive solutions. We targeted competitor brand keywords including Qualys, Tenable, Rapid7, and Nessus, positioning TechNova as a superior alternative with clear competitive advantages. The results were exceptional, with 28% of clicks on competitor keywords converting to MQL and a 6.2% conversion rate, meaningfully higher than the 4.4% rate for generic keywords. The €6,200 investment generated 94 MQLs from competitor searches, representing a highly efficient acquisition channel. Comparative messaging proved particularly effective, with ads positioning 'TechNova reduces false positives by 85% vs. Qualys' achieving a 3.8% click-through rate compared to only 1.2% for non-comparative messaging. This demonstrates that prospects actively researching competitors are highly receptive to direct competitive positioning. Direct attribution showed 8 closed deals directly sourced from competitor conquest campaigns, generating €312,000 in net new ACV and demonstrating significant pipeline value. The win rate on competitor-sourced deals reached 38%, substantially higher than typical win rates, suggesting that prospects motivated by competitive concerns convert exceptionally well. For Q1 2025, we recommend expanding the competitor keyword list from 12 to 34 keywords (including long-tail competitor phrases) and increasing monthly budget from €500 to €1,200. This channel offers exceptional ROI and direct competitive displacement opportunity that should be prioritized for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Competitor conquest search strategy proved highly effective in Q4, directly capturing prospects actively evaluating competitive solutions and converting them at exceptional rates. We targeted competitor brand keywords including Qualys, Tenable, Rapid7, and Nessus, positioning TechNova as a superior alternative with clear competitive advantages. The results were exceptional, with 28% of clicks on competitor keywords converting to MQL and a 6.2% conversion rate, meaningfully higher than the 4.4% rate for generic keywords. The €6,200 investment generated 94 MQLs from competitor searches, representing a highly efficient acquisition channel. Competitor keyword searches indicate high purchase intent—prospects are actively evaluating alternatives and comparing solutions. This high intent translates to higher conversion rates. When a prospect is actively searching for a competitor, they're in an active evaluation cycle and ready to consider alternatives. Comparative messaging proved particularly effective, with ads positioning 'TechNova reduces false positives by 85% vs. Qualys' achieving a 3.8% click-through rate compared to only 1.2% for non-comparative messaging. This 216% improvement in click-through rate from comparative positioning validates the strategy of directly addressing competitive differentiation. Prospects already considering competitors are receptive to hearing about competitive advantages. Direct attribution showed 8 closed deals directly sourced from competitor conquest campaigns, generating €312,000 in net new ACV and demonstrating significant pipeline value. Sales feedback indicates that competitors-sourced deals had faster sales cycles, suggesting that prospects already in evaluation mode convert faster. The win rate on competitor-sourced deals reached 38%, substantially higher than typical win rates, suggesting that prospects motivated by competitive concerns (switching from competitors or preventing competitive displacement) convert exceptionally well. For Q1 2025, we recommend expanding the competitor keyword list from 12 to 34 keywords, including long-tail competitor phrases and competitor-specific pain points. This expansion will enable more comprehensive capture of competitive demand across the market. Budget will increase from €500 to €1,200/month to support this expanded keyword list. This channel offers exceptional ROI and direct competitive displacement opportunity that should be prioritized for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and retargeting channel performance reflects a common challenge in B2B marketing—the technical audience shows lower propensity to click display banner ads compared to consumer or lower-tech B2B audiences. The 0.23% click-through rate and 3.1% conversion rate are significantly lower than our other channels, making direct ROI attribution challenging. Root cause analysis suggests that B2B security professionals experience banner blindness due to exposure to constant digital advertising, and our display creative may not have been compelling enough to overcome this resistance. However, the channel shows important indirect value that direct metrics don't fully capture—the 18% increase in aided brand awareness among exposed audiences demonstrates the brand-building function. Cross-channel analysis suggests display may play an assisting role in conversions through view-through attribution that isn't captured in our direct conversion model. For Q1 2025, we'll implement an action plan with multiple components. First, we'll test native ad formats on premium, high-trust placements like Financial Times and The Economist, which align with our audience's professional reading habits and may achieve higher engagement than standard display banner ads. Second, we'll implement conversion lift studies to scientifically measure the assisted conversion impact of display impressions, providing better understanding of indirect ROI. Third, we'll maintain the current €6,000/month display allocation for ongoing brand-building while piloting premium native placements with a €2,000 pilot budget. If the premium placements fail to improve conversion metrics after 30 days, we'll reallocate the budget to other channels. This approach maintains display's brand-building function while testing higher-engagement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Sequential comparison between Q3 and Q4 demonstrates clear momentum and continuous improvement across nearly all key metrics. Total MQL generation increased 14.5% from 1,089 to 1,247, driven by improved targeting, better creative performance, and expanded ABM reach. Cost per MQL improved 9.2% from €87 to €79, indicating that our optimization efforts resulted in both higher volume and improved efficiency. SQL conversion rate improved significantly by 6.3 percentage points from 62.3% to 68.6%, demonstrating substantially improved lead quality. This improvement likely reflects better persona targeting and more effective sales and marketing alignment. Average customer acquisition cost declined 7.1% from €168 to €156, resulting from both lower cost per lead and improved conversion rates. Pipeline generation increased 16.8% from €2.74M to €3.2M, indicating strong acceleration in deal flow generation. Blended ROAS across all channels improved 10.5% from 3.8x to 4.2x, reflecting optimization across multiple channels and improved conversion efficiency. Average Quality Score improved from 6.8 to 7.2, indicating better ad relevance and landing page experience. This positive trend across all major metrics indicates successful optimization and strong strategic execution in Q4. The improvement momentum provides confidence for Q1 2025 forecasting and supports the recommendations for expanded investment in proven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full-year performance demonstrates strong execution of TechNova's paid marketing strategy across all four quarters. We generated 4,234 total MQLs against a target of 4,000, achieving 105.9% of target and demonstrating consistent ability to deliver pipeline volume. The €440,000 annual budget was fully deployed as planned, maintaining discipline on spending while maximizing efficiency. Total pipeline generated across the year reached €11.2M against a target of €10.5M, representing 106.7% achievement and indicating strong value creation from our paid investments. Average CAC of €161 beat our target of €170, representing 94.6% of target cost (better than target), indicating we achieved volume targets while improving cost efficiency. Blended return on ad spend across all channels reached 4.1x against a target of 3.8x, representing 107.9% achievement and indicating strong optimization execution. Target persona win rate reached 82% against a 78% target, representing 105.1% achievement and validating our persona-focused strategy. CISO engagement reached 742 CISOs engaged across campaigns, far exceeding the 650 target at 114.2%, indicating strong reach and relevance with our highest-value persona. These results across all major metrics demonstrate that 2024 was a successful year of execution, optimization, and value creation. The strong performance provides momentum and validated strategic approaches to carry forward into 2025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2025 strategy recommendations build directly on Q4 successes while addressing identified challenges. Vertical-specific campaign expansion is our top priority, scaling the proven CSPM campaign model to four additional high-value verticals: manufacturing (targeting plant/facility security), utilities (critical infrastructure focus), healthcare IT (healthcare provider focus), and insurance (cyber insurance/risk focus). Each vertical will receive dedicated messaging, creative, and landing pages with a 50% budget increase to support expansion. ABM account list expansion from 250 to 400 accounts will deepen account penetration and allow us to target additional accounts in highest-value verticals. This expansion will include development of vertical-specific account lists and multi-persona creative addressing different buying committee members. Competitor conquest expansion recognizes the exceptional ROI we achieved on competitor keywords in Q4. We'll expand from 12 to 34 competitor keywords and increase budget from €500 to €1,200/month to capture more demand from prospects evaluating competitors. Content syndication scaling will expand our partner network to include three new regional publications with DACH focus and launch five new gated content pieces specifically focused on DACH compliance requirements. Finally, we'll invest in technology and creative innovation, testing AI-powered landing page personalization to customize value propositions by company and persona, and developing dynamic creative optimization capabilities on LinkedIn and search to show personalized messaging variants. These recommendations collectively focus on deepening our penetration of proven strategies while expanding reach and testing innovative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Q1 2025 strategy recommendations are built directly on Q4 successes while addressing identified challenges and market opportunities. Vertical-specific campaign expansion is our top priority, scaling the proven CSPM campaign model to four additional high-value verticals: manufacturing (targeting plant and facility security leaders), utilities (critical infrastructure and grid security focus), healthcare IT (healthcare provider IT security leadership), and insurance (cyber insurance and risk focus). Each vertical will receive dedicated messaging addressing vertical-specific regulatory requirements, compliance frameworks, and security challenges. Manufacturing companies must comply with increasingly stringent industrial control systems security requirements and critical infrastructure protection regulations. Utilities face critical infrastructure protection mandates and grid security requirements. Healthcare IT providers must address HIPAA compliance and patient data protection requirements. Insurance companies must understand cyber risk and cyber coverage considerations. Each vertical will be supported with dedicated landing pages, targeted nurture email sequences, vertical-specific case studies, and sales enablement materials. We anticipate 50% budget increase to support this expansion, with expected result of improved conversion rates as vertical-specific positioning resonates more strongly than generic messaging. ABM account list expansion from 250 to 400 accounts will deepen penetration in our core markets and expand reach to adjacent high-value accounts. This expansion will include development of vertical-specific account lists (e.g., 50 largest financial services companies in DACH, 40 largest healthcare systems, etc.) and multi-persona creative addressing different buying committee members' specific concerns and KPIs. Competitor conquest expansion recognizes the exceptional ROI we achieved on competitor keywords in Q4 with a 6.2% conversion rate. We'll expand from 12 to 34 competitor keywords including long-tail variants and competitor-specific pain points. This expanded list will enable capture of more competitive demand across the market. Content syndication scaling will expand our partner network to include three new regional DACH-focused publications and launch five new gated content pieces specifically addressing DACH regulatory landscape, compliance requirements, and regional best practices. These resources will be highly relevant to our target personas and drive strong engagement. Finally, we'll invest in technology and creative innovation including AI-powered landing page personalization to customize value propositions by company profile and persona, dynamic creative optimization for rapid A/B testing at scale, and enhanced attribution measurement to understand true multi-touch contribution across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Q1 2025 budget proposal recommends a 10.9% increase from the Q4 baseline of €110,000 to €122,000 per month, with strategic reallocation across channels based on demonstrated ROI and strategic opportunities. This modest increase reflects confidence in our proven channels while maintaining budget discipline in the face of CPC inflation in search channels. Search brand campaigns maintain the €42,000 baseline, reflecting their consistently strong performance with 1,847% ROAS and dominant position in driving high-intent leads. The brand search market is less competitive than generic search, enabling us to maintain efficient CPCs even as overall search auctions become more expensive. We see opportunity to maintain or improve efficiency in this channel through continued Quality Score optimization and landing page refinement. Search generic and competitor campaigns receive a modest €2,000 increase (9%) despite noted CPC inflation, enabling expansion of competitor conquest and long-tail generic keywords while maintaining cost discipline. The proposed budget of €24,000 reflects selective expansion of the highest-ROI segments (competitor conquest at €1,200/month, high-intent generic terms) while potentially reducing spend on lower-performing broad generic terms. LinkedIn ABM receives the most significant increase of €6,000 (+33%), supporting the expansion of target accounts from 250 to 400 and development of vertical-specific account lists and multi-persona creative. ABM has proven exceptional ROI with 3.1x engagement ROI and 38% win rate in competitive deals, and this increased investment is justified by demonstrated results. We're scaling a successful channel with predictable performance. LinkedIn sponsored content maintains the €10,000 level, representing a stable awareness and consideration platform. While sponsored content drives lower direct conversion than ABM, the brand lift metrics (28% aided awareness increase) justify continued investment at current levels. Content syndication increases by €4,000 (+33%) to €16,000 to support expansion of partner networks (3 new regional publications), launch of five new gated content pieces focused on DACH compliance, and improved distribution strategy. Content syndication achieved exceptional lead quality (62% conversion rate) and cost efficiency (€41 cost per lead), making it one of our highest-ROI channels. The increase is justified by channel performance. Display and retargeting maintain €6,000, with allocation shifting to test premium native ad placements while monitoring performance against KPIs. The total €122,000 monthly budget represents modest overall growth while prioritizing investment in highest-ROI channels and strategic expansion opportunities. This budget allocation balances growth investment with cost discipline and represents realistic market conditions including CPC inflation. If CPC inflation accelerates beyond current projections, we have contingency plans to reallocate away from generic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Q1 2025 test and learn agenda includes five strategic innovation initiatives designed to unlock incremental value and improve marketing effectiveness across all channels. Test #1 involves AI-powered landing page personalization, where we'll use first-party data and company information to dynamically customize value propositions based on company size, industry, and buyer persona. This test will run personalized variants against a control group to measure conversion lift—we hypothesize 15-25% conversion improvement based on industry benchmarks for this type of personalization. The AI model will analyze company data (employee count, industry, recent funding, etc.) and adjust headline, subheading, value proposition, and call-to-action to resonate with that specific company profile. Success metrics include conversion rate improvement, sustained engagement time, and downstream SQL conversion rates. Test #2 focuses on vertical-specific microsites, creating dedicated landing pages for our four new vertical expansions (manufacturing, utilities, healthcare IT, insurance) that isolate industry-specific messaging and use cases. This test measures whether vertical-isolated messaging outperforms generic value proposition messaging. Manufacturing microsite will emphasize critical infrastructure protection and industrial control systems security. Utilities microsite will focus on grid security and critical infrastructure resilience. Healthcare IT microsite will emphasize HIPAA compliance and patient data protection. Insurance microsite will address cyber risk management and cyber coverage. Each microsite will include industry-specific case studies, compliance references, and technical content. Test #3 explores LinkedIn Lead Gen Forms, which allow prospects to convert directly on LinkedIn without leaving the platform. This test compares native LinkedIn form conversions against traditional website landing page conversions to understand speed-to-lead, conversion rates, and downstream lead quality. Hypothesis is that LinkedIn forms may drive higher volume but lower quality than website conversions, or vice versa. Learnings will inform optimal channel mix. Test #4 develops dynamic creative variations highlighting competitive advantages based on identified competitor (Qualys vs. Tenable vs. Rapid7). This test measures whether personalized competitive positioning outperforms generic competitive messaging. Qualys-specific creative emphasizes false positive reduction and alert fatigue elimination. Tenable-specific creative emphasizes specialized CSPM focus vs. broad platform complexity. Rapid7-specific creative emphasizes DACH regional expertise vs. global platform. Test #5 implements a more sophisticated attribution model to capture assisted conversions and better understand true channel contribution beyond last-touch attribution. This test will validate whether current budget allocation truly reflects channel contribution, or if additional assisted channel value is being missed. Success will enable more precise optimization and budget allocation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and governance improvements for 2025 will enhance visibility, coordination, and decision-making velocity. We'll implement automated daily reporting dashboards visible to TechNova CMO and the Xebia team showing key operational metrics (daily spend, leads generated, cost per lead, ROAS by channel) enabling rapid identification of anomalies or performance issues. Monthly Business Review calls will be scheduled for the first week of each month with TechNova stakeholders and Xebia team to review pipeline progression, creative performance metrics, budget pacing versus forecast, and discuss tactical optimizations made during the month. This cadence ensures frequent alignment on performance and rapid decision-making. We'll maintain the existing quarterly business review structure as proven effective, with expanded focus on year-over-year comparison to track growth momentum, market trends analysis to ensure strategic alignment with evolving market conditions, and forward-looking recommendations for the coming quarter. Monthly creative review workshops (30 minutes) will bring together TechNova creative stakeholders and Xebia to discuss which creative themes are winning and losing, review the Q1 creative calendar to ensure consistency and novelty, and evaluate results from testing initiatives. Finally, we'll establish a monthly Sales-Marketing Alignment meeting dedicated to reviewing funnel metrics, SQL quality and timeliness, sales cycle metrics, and win/loss analysis. This ensures marketing and sales remain closely aligned on lead quality expectations and provides feedback loop for continuous messaging refinement. These governance structures will maintain strong execution focus while enabling strategic innovation and rapid adaptation to market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Q&amp;A slide provides structure for discussion and feedback from TechNova stakeholders and the Xebia team. Discussion topics include channel-specific performance questions (e.g., 'Should we increase LinkedIn ABM budget further?', 'How should we address CPC inflation in search?'), audience persona strategy questions (e.g., 'Should we prioritize CISO vs. VP Security personas?', 'Which new verticals should we target first?'), competitive positioning discussion (e.g., 'How aggressively should we pursue competitor conquest?', 'What is our long-term competitive positioning strategy?'), Q1 2025 budget allocation and prioritization (e.g., 'Does the proposed budget increase make sense?', 'Are there other opportunities we should fund?'), technology roadmap questions (e.g., 'What is the timeline for attribution platform implementation?', 'What is the expected ROI on technology investments?'), and sales-marketing alignment (e.g., 'Are leads from paid channels meeting quality expectations?', 'What metrics should we track to measure MQL quality?'). This discussion time allows stakeholders to surface concerns, ask clarifying questions, and provide directional guidance on strategic decisions. The conversation should be collaborative, data-driven, and focused on continuous improvement of TechNova's marketing effectiveness and revenue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glossary provides definitions of key marketing and sales terms referenced throughout the presentation, ensuring consistent understanding across stakeholders. MQL definition clarifies that we qualify leads based on engagement signals (campaign interactions) and firmographic match to target customer profile. SQL definition emphasizes sales team involvement and higher confidence level in prospect fit. ACV definition establishes the €42,000 benchmark and explains its importance as a key value metric. ROAS definition explains how we measure advertising efficiency and the calculation methodology (revenue/spend). CAC definition explains how we measure customer acquisition efficiency and its importance for marketing ROI analysis. Additional terms that could be included if needed include: Cost Per Click (CPC), Click-Through Rate (CTR), Quality Score, Impressions, and Conversions. The glossary serves as reference material for stakeholders unfamiliar with marketing terminology and ensures precise communication throughout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and data sources appendix provides transparency into how metrics are calculated and where data originates, enabling stakeholders to understand limitations, validate findings, and customize reporting as needed. Data sources include Google Ads (campaign spend, impressions, clicks), Google Analytics 4 (website conversion and behavior data), LinkedIn Campaign Manager (LinkedIn campaign metrics), HubSpot (lead database and lead stage tracking), and Salesforce (pipeline and closed deal data). Attribution model uses multi-touch attribution with 40% weight to first click (awareness credit) and 60% weight to last click (conversion credit), enabling us to understand full customer journey while prioritizing conversion-stage attribution. Direct/brand search receives separate treatment recognizing its distinct high-intent characteristics. Assisted conversions are excluded from primary metrics to maintain conservative attribution but tracked separately for full analysis. Lead quality assessment relies primarily on MQL-to-SQL conversion rates and average lead value, with win rate on closed deals providing secondary validation. Persona identification combines LinkedIn profile data enrichment, first-party CRM fields (title, company size, industry), and direct sales team feedback from discovery calls. Personas are updated quarterly to reflect evolving customer base and buying committee composition. Performance periods are clearly defined to enable period-over-period comparison—Q4 represents Oct 1-Dec 31, Q3 represents July 1-Sept 30, and Full Year 2024 spans Jan 1-Dec 31. Monthly averages for Q4 represent the average of October, November, and December metrics to smooth seasonal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0027"/>
        </a:solidFill>
      </p:bgPr>
    </p:bg>
    <p:spTree>
      <p:nvGrpSpPr>
        <p:cNvPr id="1" name=""/>
        <p:cNvGrpSpPr/>
        <p:nvPr/>
      </p:nvGrpSpPr>
      <p:grpSpPr>
        <a:xfrm>
          <a:off x="0" y="0"/>
          <a:ext cx="0" cy="0"/>
          <a:chOff x="0" y="0"/>
          <a:chExt cx="0" cy="0"/>
        </a:xfrm>
      </p:grpSpPr>
      <p:sp>
        <p:nvSpPr>
          <p:cNvPr id="2" name="Text 0"/>
          <p:cNvSpPr/>
          <p:nvPr/>
        </p:nvSpPr>
        <p:spPr>
          <a:xfrm>
            <a:off x="457200" y="1371600"/>
            <a:ext cx="8229600" cy="5486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TechNova Q4 2024</a:t>
            </a:r>
            <a:endParaRPr lang="en-US" sz="4800" dirty="0"/>
          </a:p>
        </p:txBody>
      </p:sp>
      <p:sp>
        <p:nvSpPr>
          <p:cNvPr id="3" name="Text 1"/>
          <p:cNvSpPr/>
          <p:nvPr/>
        </p:nvSpPr>
        <p:spPr>
          <a:xfrm>
            <a:off x="457200" y="2011680"/>
            <a:ext cx="8229600" cy="457200"/>
          </a:xfrm>
          <a:prstGeom prst="rect">
            <a:avLst/>
          </a:prstGeom>
          <a:noFill/>
          <a:ln/>
        </p:spPr>
        <p:txBody>
          <a:bodyPr wrap="square"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Campaign Strategy &amp; Quarterly Business Review</a:t>
            </a:r>
            <a:endParaRPr lang="en-US" sz="2800" dirty="0"/>
          </a:p>
        </p:txBody>
      </p:sp>
      <p:sp>
        <p:nvSpPr>
          <p:cNvPr id="4" name="Text 2"/>
          <p:cNvSpPr/>
          <p:nvPr/>
        </p:nvSpPr>
        <p:spPr>
          <a:xfrm>
            <a:off x="457200" y="2743200"/>
            <a:ext cx="8229600" cy="365760"/>
          </a:xfrm>
          <a:prstGeom prst="rect">
            <a:avLst/>
          </a:prstGeom>
          <a:noFill/>
          <a:ln/>
        </p:spPr>
        <p:txBody>
          <a:bodyPr wrap="square" rtlCol="0" anchor="ctr"/>
          <a:lstStyle/>
          <a:p>
            <a:pPr algn="ctr" indent="0" marL="0">
              <a:buNone/>
            </a:pPr>
            <a:r>
              <a:rPr lang="en-US" sz="1600" dirty="0">
                <a:solidFill>
                  <a:srgbClr val="CCCCCC"/>
                </a:solidFill>
                <a:latin typeface="Arial" pitchFamily="34" charset="0"/>
                <a:ea typeface="Arial" pitchFamily="34" charset="-122"/>
                <a:cs typeface="Arial" pitchFamily="34" charset="-120"/>
              </a:rPr>
              <a:t>Internal Review + Client Quarterly Business Review</a:t>
            </a:r>
            <a:endParaRPr lang="en-US" sz="1600" dirty="0"/>
          </a:p>
        </p:txBody>
      </p:sp>
      <p:sp>
        <p:nvSpPr>
          <p:cNvPr id="5" name="Text 3"/>
          <p:cNvSpPr/>
          <p:nvPr/>
        </p:nvSpPr>
        <p:spPr>
          <a:xfrm>
            <a:off x="457200" y="3474720"/>
            <a:ext cx="8229600" cy="365760"/>
          </a:xfrm>
          <a:prstGeom prst="rect">
            <a:avLst/>
          </a:prstGeom>
          <a:noFill/>
          <a:ln/>
        </p:spPr>
        <p:txBody>
          <a:bodyPr wrap="square" rtlCol="0" anchor="ctr"/>
          <a:lstStyle/>
          <a:p>
            <a:pPr algn="ctr" indent="0" marL="0">
              <a:buNone/>
            </a:pPr>
            <a:r>
              <a:rPr lang="en-US" sz="1400" dirty="0">
                <a:solidFill>
                  <a:srgbClr val="AAAAAA"/>
                </a:solidFill>
                <a:latin typeface="Arial" pitchFamily="34" charset="0"/>
                <a:ea typeface="Arial" pitchFamily="34" charset="-122"/>
                <a:cs typeface="Arial" pitchFamily="34" charset="-120"/>
              </a:rPr>
              <a:t>Xebia Agency Partnership | December 2024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Agenda</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Executive Summary &amp; Q4 Key Results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Performance Review by Channel: Search, LinkedIn, Content, Display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Audience, Creative, and Funnel Analysis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Competitive Positioning and Market Trends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Q4 Key Wins and Challenges Learned</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Year-over-Year and Quarterly Trend Analysis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Q1 2025 Strategy Recommendations and Budget Proposal</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&amp; Learn Initiatives and Technology Roadmap</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Governance, Reporting, and Next Steps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Executive Summary — Q4 2024 Key Results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€110,000 Budget Deployed Across 5 Channels with 94% Efficiency Rate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1,247 MQLs Generated | 287 Opportunities Created | €156 CAC (benchmark: €185)</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€3.2M Pipeline Generated | 42% Attribution from Paid Channels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Google Search Brand: 1,847% ROAS | LinkedIn ABM: 3.1x ROI on prospect engagement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ACV Achievement: 103% of target with 18 mid-market wins in target personas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Q4 Goals vs. Actuals — KPI Performance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3474720"/>
        </p:xfrm>
        <a:graphic>
          <a:graphicData uri="http://schemas.openxmlformats.org/drawingml/2006/table">
            <a:tbl>
              <a:tblPr/>
              <a:tblGrid>
                <a:gridCol w="2103120"/>
                <a:gridCol w="2103120"/>
                <a:gridCol w="2103120"/>
                <a:gridCol w="2103120"/>
              </a:tblGrid>
              <a:tr h="4343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KPI</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Actual</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Variance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MQLs Generated</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1,100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1,247</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+13.4%</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Cost per MQL</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€88</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€79</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-10.1%</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Sales Opportunities Created</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260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287</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+10.4%</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Pipeline Generated (€M)</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€2.8M</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€3.2M</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+14.3%</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Average CAC</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€190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€156</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-17.9%</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Target Persona Conversion</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75%</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81%</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34340">
                <a:tc>
                  <a:txBody>
                    <a:bodyPr/>
                    <a:lstStyle/>
                    <a:p>
                      <a:pPr indent="0" marL="0">
                        <a:buNone/>
                      </a:pPr>
                      <a:r>
                        <a:rPr lang="en-US" sz="1100" dirty="0">
                          <a:solidFill>
                            <a:srgbClr val="000000"/>
                          </a:solidFill>
                        </a:rPr>
                        <a:t>ROAS (Blended)</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3.5x</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4.2x</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+20.0%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Q4 Budget Overview — Channel Allocation (€110,000/month avg)</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Google Search Brand: €42,000 (38%) — Highest ROAS, strong intent capture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LinkedIn ABM &amp; Sponsored: €28,000 (25%) — Precision targeting of key accounts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Google Search Generic/Competitor: €22,000 (20%) — Lower funnel expansion</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Content Syndication: €12,000 (11%) — Top-of-funnel awareness and nurturing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Display &amp; Retargeting: €6,000 (6%) — Secondary awareness and consideration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Google Search Brand: Campaign Performance</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Impressions: 89,432 | Clicks: 12,847 | CTR: 14.4% (industry avg: 6-8%)</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Average CPC: €3.27 | Total Spend: €42,000 | Lead Cost: €62 per MQL</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MQLs: 678 | Conversion Rate: 5.3% (page to MQL) | ROAS: 1,847%</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Top keywords: 'TechNova' (18% of spend), 'cloud security DACH' (15%), 'CSPM solution' (12%)</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Quality Score improvement: 7.2 avg (up from 6.8 in Q3) reflecting improved ad relevance and landing page experience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Google Search Generic &amp; Competitor: Market Expansion</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Impressions: 156,234 | Clicks: 8,932 | CTR: 5.7% | CPC: €2.46 | Spend: €22,000</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MQLs: 389 | Conversion Rate: 4.4% | Lead Cost: €56.6 | ROAS: 1,230%</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Generic terms ('cloud security solutions', 'compliance automation') drive 54% of clicks and expand addressable market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Competitor conquest campaigns capture 28% of clicks with 6.2% conversion rate — highest performer in segment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CPC inflation noted in Q4 (+18% vs Q3) due to increased competitive bidding; optimization in progress for Q1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LinkedIn ABM Campaign: Precision Targeting Results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Target Accounts: 250 key mid-market accounts across DACH | Impressions: 67,890 | Spend: €16,000</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Profile Views: 4,234 | Click-Through Rate: 6.2% | Average Lead Time to Opportunity: 12 days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Opportunities Attributed: 87 | Deal Value from ABM: €2.1M | ROI: 3.1x on engagement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Winning Personas: Security Directors (34%), CISOs (28%), VP Infrastructure (23%)</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Company Targeting: 56% from target list engaged; 78% of engagements from IT services or financial services verticals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LinkedIn Sponsored Content: Awareness &amp; Consideration</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Impressions: 234,567 | Clicks: 3,456 | CTR: 1.5% | Spend: €12,000 | CPC: €3.47</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Content Performance: Whitepapers (2.8% CTR) &gt; Case studies (1.9% CTR) &gt; Blog articles (1.2% CTR)</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Audience Demographics: 67% C-suite/Director level | 78% from target industries | 82% mid-market companies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Secondary Conversions: 234 MQLs generated | Video content underperformed (1.1% engagement)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Brand Lift Study: 28% increase in aided brand awareness among exposed audience; recommendation intent +34%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Content Syndication: Top-of-Funnel Lead Generation</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Partner Networks: LinkedIn, G2, CloudSecurity.org | Total Impressions: 512,340 | Downloads: 1,847</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Spend: €12,000 | Cost per Download: €6.50 | Cost per MQL (downstream): €41 | Volume: 292 MQLs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Top-Performing Content: 'CSPM Implementation Guide' (34% of downloads) | 'Security in DACH: 2024 Compliance Trends' (28%)</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Lead Quality: 62% conversion rate to MQL (highest of any channel) | Average time in nurture: 18 days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Geographic Performance: Germany 56%, UK 27%, Benelux 17% — strong alignment with DACH focus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Display &amp; Retargeting: Secondary Awareness Channel</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Impressions: 1,234,567 | Clicks: 2,847 | CTR: 0.23% | Spend: €6,000 | CPC: €2.11</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Retargeting Segment: 78% of clicks | Engagement Rate: 8.2% | Brand Recall Impact: +18%</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Prospecting Campaigns: 22% of clicks | Lower conversion but drives awareness; CPM: €4.23</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MQL Generation: 89 MQLs | Lead Cost: €67.41 | Conversion rate: 3.1% | ROAS: 780%</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Creative Insights: Static image ads outperformed animated by 2.3x; messaging focus on 'security' vs 'compliance' drove +34% CTR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Audience Performance Analysis: Persona Breakdown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474720"/>
        </p:xfrm>
        <a:graphic>
          <a:graphicData uri="http://schemas.openxmlformats.org/drawingml/2006/table">
            <a:tbl>
              <a:tblPr/>
              <a:tblGrid>
                <a:gridCol w="1719072"/>
                <a:gridCol w="1719072"/>
                <a:gridCol w="1719072"/>
                <a:gridCol w="1719072"/>
                <a:gridCol w="1719072"/>
              </a:tblGrid>
              <a:tr h="579120">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Persona</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MQL Volume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Conversion %</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Avg. Lead Value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Channel Mix</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579120">
                <a:tc>
                  <a:txBody>
                    <a:bodyPr/>
                    <a:lstStyle/>
                    <a:p>
                      <a:pPr indent="0" marL="0">
                        <a:buNone/>
                      </a:pPr>
                      <a:r>
                        <a:rPr lang="en-US" sz="1000" dirty="0">
                          <a:solidFill>
                            <a:srgbClr val="000000"/>
                          </a:solidFill>
                        </a:rPr>
                        <a:t>CISO</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386</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6.2%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€4,200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Search 42%, LinkedIn 38%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579120">
                <a:tc>
                  <a:txBody>
                    <a:bodyPr/>
                    <a:lstStyle/>
                    <a:p>
                      <a:pPr indent="0" marL="0">
                        <a:buNone/>
                      </a:pPr>
                      <a:r>
                        <a:rPr lang="en-US" sz="1000" dirty="0">
                          <a:solidFill>
                            <a:srgbClr val="000000"/>
                          </a:solidFill>
                        </a:rPr>
                        <a:t>VP Security</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294</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5.8%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€3,800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LinkedIn 45%, Content 30%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579120">
                <a:tc>
                  <a:txBody>
                    <a:bodyPr/>
                    <a:lstStyle/>
                    <a:p>
                      <a:pPr indent="0" marL="0">
                        <a:buNone/>
                      </a:pPr>
                      <a:r>
                        <a:rPr lang="en-US" sz="1000" dirty="0">
                          <a:solidFill>
                            <a:srgbClr val="000000"/>
                          </a:solidFill>
                        </a:rPr>
                        <a:t>IT Director</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312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5.1%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€2,900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Search 51%, LinkedIn 28%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579120">
                <a:tc>
                  <a:txBody>
                    <a:bodyPr/>
                    <a:lstStyle/>
                    <a:p>
                      <a:pPr indent="0" marL="0">
                        <a:buNone/>
                      </a:pPr>
                      <a:r>
                        <a:rPr lang="en-US" sz="1000" dirty="0">
                          <a:solidFill>
                            <a:srgbClr val="000000"/>
                          </a:solidFill>
                        </a:rPr>
                        <a:t>Compliance Officer</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178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€2,100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Content 52%, LinkedIn 32%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579120">
                <a:tc>
                  <a:txBody>
                    <a:bodyPr/>
                    <a:lstStyle/>
                    <a:p>
                      <a:pPr indent="0" marL="0">
                        <a:buNone/>
                      </a:pPr>
                      <a:r>
                        <a:rPr lang="en-US" sz="1000" dirty="0">
                          <a:solidFill>
                            <a:srgbClr val="000000"/>
                          </a:solidFill>
                        </a:rPr>
                        <a:t>Infrastructure Manager</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77</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3.1%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€1,600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Search 61%, Display 22%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Creative Winning Themes: What Worked in Q4</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Risk-Based Messaging: 'Reduce security risk by 40%' outperformed 'Automate compliance tasks' by 2.1x CTR</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Proof &amp; Credibility: Customer testimonials and case studies drove 34% higher conversion; G2 ratings featured in top 15% creatives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FOMO/Competitive: 'Leading CISOs choose TechNova' and 'Competitors switching to TechNova' achieved 3.8% CTR average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Specificity Wins: Regional messaging ('GDPR compliance leader in DACH') outperformed generic by 2.4x; vertical-specific by 1.9x</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Visual Strategy: Professional, technical illustrations outperformed generic stock photography by 3.2x; blue/purple color palette +28% engagement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Creative Losing Themes &amp; Lessons Learned</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Feature-First Messaging: 'Automated CSPM with machine learning' underperformed by 3.4x vs. outcome messaging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Overly Technical Language: Developer/IT-focused jargon drove 67% lower CTR than accessible language for mixed audiences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Generic Stock Photography: Standard business imagery CTR 3.2x lower than custom professional illustrations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Discount/Pricing Focus: Pricing-focused ads achieved only 0.8% CTR vs. 2.2% for value-focused ads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Call-to-Action: 'Request Demo' underperformed by 1.7x vs. 'Reduce Security Risk Today' — destination matters more than action verb</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Funnel Analysis: MQL to Closed Won Pipeline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926080"/>
        </p:xfrm>
        <a:graphic>
          <a:graphicData uri="http://schemas.openxmlformats.org/drawingml/2006/table">
            <a:tbl>
              <a:tblPr/>
              <a:tblGrid>
                <a:gridCol w="2057400"/>
                <a:gridCol w="2057400"/>
                <a:gridCol w="2057400"/>
                <a:gridCol w="2057400"/>
              </a:tblGrid>
              <a:tr h="487680">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Stage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Volume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Conversion %</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Avg. Days in Stage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87680">
                <a:tc>
                  <a:txBody>
                    <a:bodyPr/>
                    <a:lstStyle/>
                    <a:p>
                      <a:pPr indent="0" marL="0">
                        <a:buNone/>
                      </a:pPr>
                      <a:r>
                        <a:rPr lang="en-US" sz="1100" dirty="0">
                          <a:solidFill>
                            <a:srgbClr val="000000"/>
                          </a:solidFill>
                        </a:rPr>
                        <a:t>Marketing Qualified Leads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1,247</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100%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87680">
                <a:tc>
                  <a:txBody>
                    <a:bodyPr/>
                    <a:lstStyle/>
                    <a:p>
                      <a:pPr indent="0" marL="0">
                        <a:buNone/>
                      </a:pPr>
                      <a:r>
                        <a:rPr lang="en-US" sz="1100" dirty="0">
                          <a:solidFill>
                            <a:srgbClr val="000000"/>
                          </a:solidFill>
                        </a:rPr>
                        <a:t>Sales Qualified Leads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856</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68.6%</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8 days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87680">
                <a:tc>
                  <a:txBody>
                    <a:bodyPr/>
                    <a:lstStyle/>
                    <a:p>
                      <a:pPr indent="0" marL="0">
                        <a:buNone/>
                      </a:pPr>
                      <a:r>
                        <a:rPr lang="en-US" sz="1100" dirty="0">
                          <a:solidFill>
                            <a:srgbClr val="000000"/>
                          </a:solidFill>
                        </a:rPr>
                        <a:t>Sales Opportunities/Proposals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287</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23.0%</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22 days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87680">
                <a:tc>
                  <a:txBody>
                    <a:bodyPr/>
                    <a:lstStyle/>
                    <a:p>
                      <a:pPr indent="0" marL="0">
                        <a:buNone/>
                      </a:pPr>
                      <a:r>
                        <a:rPr lang="en-US" sz="1100" dirty="0">
                          <a:solidFill>
                            <a:srgbClr val="000000"/>
                          </a:solidFill>
                        </a:rPr>
                        <a:t>Negotiations/Closing</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47</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3.8%</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34 days</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87680">
                <a:tc>
                  <a:txBody>
                    <a:bodyPr/>
                    <a:lstStyle/>
                    <a:p>
                      <a:pPr indent="0" marL="0">
                        <a:buNone/>
                      </a:pPr>
                      <a:r>
                        <a:rPr lang="en-US" sz="1100" dirty="0">
                          <a:solidFill>
                            <a:srgbClr val="000000"/>
                          </a:solidFill>
                        </a:rPr>
                        <a:t>Closed Won</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31</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2.5%</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a:t>
                      </a:r>
                      <a:endParaRPr lang="en-US" sz="1100" dirty="0"/>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
        <p:nvSpPr>
          <p:cNvPr id="4"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Key Insight: 68.6% MQL-to-SQL conversion (2.8x above industry benchmark of 25%) reflects strong lead quality from our targeting strategy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Opportunity conversion (23%) aligned with target; average deal size €42,000 validates ACV target achievement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Pipeline Generated from Paid Channels: Attribution Analysis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291840"/>
        </p:xfrm>
        <a:graphic>
          <a:graphicData uri="http://schemas.openxmlformats.org/drawingml/2006/table">
            <a:tbl>
              <a:tblPr/>
              <a:tblGrid>
                <a:gridCol w="1755648"/>
                <a:gridCol w="1755648"/>
                <a:gridCol w="1755648"/>
                <a:gridCol w="1755648"/>
                <a:gridCol w="1755648"/>
              </a:tblGrid>
              <a:tr h="365760">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Channel</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Opps Created</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Pipeline Value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 of Total Pipeline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Cost per €1 Pipeline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Google Search Brand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103</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€4.34M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€0.97</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LinkedIn ABM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87</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€2.10M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€0.76</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Content Syndication</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62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€1.82M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9%</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€0.66</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Google Search Generic</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24</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€0.98M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5%</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€2.24</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LinkedIn Sponsored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€0.45M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€2.67</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Display &amp; Retargeting</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€0.28M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€2.14</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TOTAL PAID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295</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€9.97M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50%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€1.10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365760">
                <a:tc>
                  <a:txBody>
                    <a:bodyPr/>
                    <a:lstStyle/>
                    <a:p>
                      <a:pPr indent="0" marL="0">
                        <a:buNone/>
                      </a:pPr>
                      <a:r>
                        <a:rPr lang="en-US" sz="1000" dirty="0">
                          <a:solidFill>
                            <a:srgbClr val="000000"/>
                          </a:solidFill>
                        </a:rPr>
                        <a:t>Organic + Other</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€9.97M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50%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Competitive Landscape &amp; Auction Insights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Primary Competitors in Auction: Qualys (28% of competitor searches), Tenable (22%), Rapid7 (18%), Nessus (15%), Other (17%)</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Search Competition: Average CPC increased 18% Q4 vs Q3 due to increased bidding across 'cloud security' and 'CSPM' keywords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Ad Share: TechNova brand terms 94% share, generic terms 18% share, competitor terms 12% share; market share opportunity evident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Win Rate vs. Competitors: TechNova 31% vs Qualys 22%, Tenable 19%, Rapid7 14% — strong competitive positioning in sales cycle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Market Position: DACH region shows strongest Qualys presence (31% of competitive mentions), TechNova emerging as #2 positioning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Market Trends: Cloud Security in DACH 2024</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Market Growth: DACH cloud security market projected 34% CAGR 2023-2027; CSPM sub-segment growing 47% YoY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Regulatory Drivers: NIS2 Directive implementation across EU creating compliance demand; Germany's IT Security Act 2.0 driving urgency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Budget Trends: 67% of DACH CISOs increasing security budgets in 2025; cloud security specifically up 42% vs. 18% for traditional security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Decision-Making: 78% now involve multiple stakeholders (Security + Cloud + Compliance teams); average sales cycle 120-180 days for mid-market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Technology Adoption: 73% of mid-market companies increasing cloud infrastructure investment; 54% actively evaluating cloud-native security solutions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Key Win #1: CSPM Campaign Breakthrough</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Initiative: Launched dedicated CSPM solution campaign with vertical-specific messaging for financial services and healthcare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Results: Generated 156 MQLs in 8-week campaign window | 68 converted to SQL | 12 closed deals averaging €52,000 ACV</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Performance: ROAS 2,340% | Cost per closed deal €789 | Pipeline generated €1.8M | 78% deal velocity vs. baseline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Success Factor: Vertical-specific messaging ('Financial services cybersecurity regulations require...') drove 3.2x higher conversion than generic</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Scaling: Campaign template and messaging framework proven; recommend expansion to 4 additional verticals in Q1 with 50% increased budget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Key Win #2: LinkedIn ABM Persona Targeting Innovation</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Innovation: Developed sophisticated multi-persona targeting strategy reaching CISO, VP Security, and IT Director simultaneously across same accounts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Results: 87 sales opportunities attributed to ABM | €2.1M pipeline generated | 31% win rate vs. 18% baseline for non-ABM accounts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Engagement Metrics: 4,234 profile views | 6.2% CTR | 12-day average time to opportunity | 78% of target account list engaged</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Competitive Advantage: Multi-persona approach reduced sales cycle by 28 days and improved deal closure rate vs. single-persona campaigns by 42%</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Expansion Plan: Scale from 250 to 400 target accounts in Q1 2025; develop vertical-specific account lists and expanded creative variations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Key Win #3: Competitor Conquest Strategy Success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Strategy: Targeted competitor brand keywords (Qualys, Tenable, Rapid7, Nessus) with messaging emphasizing TechNova competitive advantages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Results: 28% of competitor-keyword clicks converted to MQL | 6.2% conversion rate (vs. 4.4% generic) | 94 MQLs from €6,200 spend</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Messaging Win: 'TechNova reduces false positives by 85% vs. Qualys' messaging drove 3.8% CTR vs. 1.2% for non-comparative ads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Deal Impact: 8 closed deals directly attributed to competitor conquest | €312,000 net new ACV | Win rate 38% vs. competitor-sourced deals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Scaling: Expand competitor keyword list from 12 to 34 keywords; increase budget from €500/month to €1,200/month for Q1 2025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Challenge: Rising CPCs in Generic Search Market</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Trend: Generic search CPCs increased 18% Q4 vs Q3, from €2.08 to €2.46; competitive bidding intensifying across 'cloud security' keywords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Root Cause: Market growth attracting new competitors; Qualys and Tenable increasing bid aggressiveness; budget constraints limiting TechNova scaling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Impact: Profitability per lead declining if CPCs rise faster than conversion rate improvements; ROI pressure on generic channel</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Q1 Mitigation Strategies: (1) Improve Quality Score to 8.0+ through landing page optimization; (2) Expand long-tail keywords with lower CPCs; (3) Shift budget toward proven high-ROI channels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Contingency: If CPCs exceed €3.00 in Q1, reduce generic search allocation 30% and reallocate to content syndication and ABM where efficiency remains strong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Challenge: Low Conversion from Display &amp; Retargeting Channel</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Issue: Display channel achieved 0.23% CTR and 3.1% conversion rate; while serving awareness function, direct ROI trail is weak vs. other channels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Root Cause: B2B security audience has low propensity to click display ads; banner blindness common in technical roles; messaging not compelling enough</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Cross-Channel Impact: However, display shows strong brand lift (18% aided awareness increase) and assists in conversions—view-through conversions not fully attributed</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Q1 Action Plan: (1) Test new native ad formats on premium placements (Financial Times, The Economist); (2) Implement conversion lift studies to measure assisted impact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Decision Framework: Maintain display allocation at €6,000/month for brand building; test premium placements with €2,000 pilot budget; prepare to reallocate if pilot underperforms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Q4 vs. Q3 Trend Analysis: Sequential Performance Improvement</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3291840"/>
        </p:xfrm>
        <a:graphic>
          <a:graphicData uri="http://schemas.openxmlformats.org/drawingml/2006/table">
            <a:tbl>
              <a:tblPr/>
              <a:tblGrid>
                <a:gridCol w="2103120"/>
                <a:gridCol w="2103120"/>
                <a:gridCol w="2103120"/>
                <a:gridCol w="2103120"/>
              </a:tblGrid>
              <a:tr h="41148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Metric</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Q3 2024</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Q4 2024</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Total MQLs</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1,089</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1,247</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+14.5%</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Cost per MQL</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€87</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€79</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-9.2%</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SQL Conversion Rate</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62.3%</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68.6%</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+6.3pp</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Average CAC</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€168</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€156</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-7.1%</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Pipeline Generated</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€2.74M</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€3.2M</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+16.8%</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Blended ROAS</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3.8x</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4.2x</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+10.5%</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100" dirty="0">
                          <a:solidFill>
                            <a:srgbClr val="000000"/>
                          </a:solidFill>
                        </a:rPr>
                        <a:t>Quality Score (Avg)</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6.8</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7.2</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100" dirty="0">
                          <a:solidFill>
                            <a:srgbClr val="000000"/>
                          </a:solidFill>
                        </a:rPr>
                        <a:t>+0.4</a:t>
                      </a:r>
                      <a:endParaRPr lang="en-US" sz="1100" dirty="0"/>
                    </a:p>
                  </a:txBody>
                  <a:tcPr marL="0" marR="762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2024 Full-Year Performance Summary: Annual Achievement</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291840"/>
        </p:xfrm>
        <a:graphic>
          <a:graphicData uri="http://schemas.openxmlformats.org/drawingml/2006/table">
            <a:tbl>
              <a:tblPr/>
              <a:tblGrid>
                <a:gridCol w="2148840"/>
                <a:gridCol w="2148840"/>
                <a:gridCol w="2148840"/>
                <a:gridCol w="2148840"/>
              </a:tblGrid>
              <a:tr h="41148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Metric</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Full Year 2024</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Achievement %</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Total MQLs Generated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4,234</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4,000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105.9%</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Total Budget Deployed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€440,000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€440,000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100.0%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Total Pipeline Generated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€11.2M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€10.5M</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106.7%</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Average CAC</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€161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€170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94.6%</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Blended ROAS</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4.1x</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3.8x</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107.9%</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Target Persona Win Rate</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82%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78%</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105.1%</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11480">
                <a:tc>
                  <a:txBody>
                    <a:bodyPr/>
                    <a:lstStyle/>
                    <a:p>
                      <a:pPr indent="0" marL="0">
                        <a:buNone/>
                      </a:pPr>
                      <a:r>
                        <a:rPr lang="en-US" sz="1000" dirty="0">
                          <a:solidFill>
                            <a:srgbClr val="000000"/>
                          </a:solidFill>
                        </a:rPr>
                        <a:t>CISOs Engaged</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742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650</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000" dirty="0">
                          <a:solidFill>
                            <a:srgbClr val="000000"/>
                          </a:solidFill>
                        </a:rPr>
                        <a:t>114.2%</a:t>
                      </a:r>
                      <a:endParaRPr lang="en-US" sz="10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Q1 2025 Strategy Recommendations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1. Vertical-Specific Campaign Expansion: Scale CSPM model to 4 additional verticals (manufacturing, utilities, healthcare IT, insurance) with +50% budget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2. ABM Account List Expansion: Grow target account list from 250 to 400 accounts; develop vertical-specific targeting and multi-persona creative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3. Competitor Conquest Expansion: Increase competitor keyword list from 12 to 34 keywords; budget increase from €500 to €1,200/month</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4. Content Syndication Scaling: Expand partner network to include 3 new regional publications; launch 5 new piece of gated content focused on DACH compliance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5. Technology &amp; Creative Innovation: Test AI-powered landing page personalization; develop dynamic creative optimization across LinkedIn and search</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Q1 2025 Budget Proposal: Recommended Investment</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200400"/>
        </p:xfrm>
        <a:graphic>
          <a:graphicData uri="http://schemas.openxmlformats.org/drawingml/2006/table">
            <a:tbl>
              <a:tblPr/>
              <a:tblGrid>
                <a:gridCol w="1755648"/>
                <a:gridCol w="1755648"/>
                <a:gridCol w="1755648"/>
                <a:gridCol w="1755648"/>
                <a:gridCol w="1755648"/>
              </a:tblGrid>
              <a:tr h="400050">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Channel</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Q4 Baseline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Q1 Proposed</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 Change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Rationale</a:t>
                      </a:r>
                      <a:endParaRPr lang="en-US" sz="1400" dirty="0">
                        <a:latin typeface="Arial" charset="0"/>
                        <a:ea typeface="Arial" charset="0"/>
                        <a:cs typeface="Arial" charset="0"/>
                      </a:endParaRPr>
                    </a:p>
                  </a:txBody>
                  <a:tcPr marL="0" marR="76200" marT="508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Search Brand</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€42,000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€42,000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Maintain proven performance</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Search Generic/Comp</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€22,000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€24,000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+9%</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Selective expansion despite CPC inflation</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LinkedIn ABM</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€18,000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€24,000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+33%</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Scale from 250 to 400 accounts</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LinkedIn Sponsored</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€10,000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€10,000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Maintain at current level</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Content Syndication</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€12,000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€16,000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+33%</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Expand partner network and content</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Display/Retargeting</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€6,000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€6,000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Test premium native placements</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r h="400050">
                <a:tc>
                  <a:txBody>
                    <a:bodyPr/>
                    <a:lstStyle/>
                    <a:p>
                      <a:pPr indent="0" marL="0">
                        <a:buNone/>
                      </a:pPr>
                      <a:r>
                        <a:rPr lang="en-US" sz="900" dirty="0">
                          <a:solidFill>
                            <a:srgbClr val="000000"/>
                          </a:solidFill>
                        </a:rPr>
                        <a:t>TOTAL</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€110,000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€122,000</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r>
                        <a:rPr lang="en-US" sz="900" dirty="0">
                          <a:solidFill>
                            <a:srgbClr val="000000"/>
                          </a:solidFill>
                        </a:rPr>
                        <a:t>+10.9%</a:t>
                      </a: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c>
                  <a:txBody>
                    <a:bodyPr/>
                    <a:lstStyle/>
                    <a:p>
                      <a:pPr indent="0" marL="0">
                        <a:buNone/>
                      </a:pPr>
                      <a:endParaRPr lang="en-US" sz="900" dirty="0"/>
                    </a:p>
                  </a:txBody>
                  <a:tcPr marL="0" marR="50800" marT="38100" marB="0">
                    <a:lnL w="12700" cap="flat" cmpd="sng" algn="ctr">
                      <a:solidFill>
                        <a:srgbClr val="621563"/>
                      </a:solidFill>
                      <a:prstDash val="solid"/>
                      <a:round/>
                      <a:headEnd type="none" w="med" len="med"/>
                      <a:tailEnd type="none" w="med" len="med"/>
                    </a:lnL>
                    <a:lnR w="12700" cap="flat" cmpd="sng" algn="ctr">
                      <a:solidFill>
                        <a:srgbClr val="621563"/>
                      </a:solidFill>
                      <a:prstDash val="solid"/>
                      <a:round/>
                      <a:headEnd type="none" w="med" len="med"/>
                      <a:tailEnd type="none" w="med" len="med"/>
                    </a:lnR>
                    <a:lnT w="12700" cap="flat" cmpd="sng" algn="ctr">
                      <a:solidFill>
                        <a:srgbClr val="621563"/>
                      </a:solidFill>
                      <a:prstDash val="solid"/>
                      <a:round/>
                      <a:headEnd type="none" w="med" len="med"/>
                      <a:tailEnd type="none" w="med" len="med"/>
                    </a:lnT>
                    <a:lnB w="12700" cap="flat" cmpd="sng" algn="ctr">
                      <a:solidFill>
                        <a:srgbClr val="621563"/>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Q1 2025 Test &amp; Learn Agenda: Innovation Initiatives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#1 - AI-Powered Landing Page Personalization: Dynamically customize value prop by company size, industry, persona; measure conversion lift vs. control</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#2 - Vertical-Specific Microsites: Create dedicated CSPM microsites for 4 new vertical expansions; test messaging isolation impact on conversion</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#3 - LinkedIn Lead Gen Forms: Test LinkedIn native lead gen forms vs. website landing pages; measure speed-to-lead and conversion rate impact</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#4 - Competitive Battle Card Targeting: Create dynamic creative highlighting competitive advantages; measure lift vs. standard positioning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Test #5 - Multi-Touch Attribution Model: Implement advanced cross-channel attribution; measure assisted conversions and true channel contribution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Technology &amp; Tool Recommendations for 2025</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1. Marketing Automation Enhancement: Upgrade to HubSpot Enterprise + additional Salesforce integration for improved lead scoring and nurture automation</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2. Attribution Platform: Implement Marketo or similar platform to enable multi-touch attribution across all channels and measure true ROI by campaign and channel</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3. AI-Powered Creative: Deploy generative AI tool for dynamic creative generation and A/B test variants at scale (e.g., Pencil, Madgicx)</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4. First-Party Data Platform: Implement CDP (Customer Data Platform) to consolidate user behavior data across channels for personalization and targeting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5. Account Intelligence: Subscribe to ZoomInfo or Apollo for enhanced account targeting and contact data in ABM campaigns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Reporting &amp; Governance Updates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Weekly Reporting: Implement automated dashboard showing daily spend, leads, cost per lead, and ROAS by channel; shared with TechNova CMO and Xebia team</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Monthly Business Review (MBR): Schedule recurring MBR call first week of each month to review pipeline, creative performance, budget pace, and tactical optimizations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Quarterly Business Review (QBR): Maintain existing QBR structure with expanded focus on year-over-year comparison, market trends analysis, and forward-looking recommendations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Creative Review Cadence: Implement monthly creative review workshop (30 min) to discuss winning/losing themes, alignment on Q1 creative calendar, and test results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Cross-Functional Alignment: Establish monthly Sales-Marketing Alignment meeting to review funnel metrics, SQL quality, sales cycle metrics, and win/loss analysis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Questions &amp; Discussion</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Channel-specific performance and optimization opportunities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Audience persona strategy and expansion to new segments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Competitive positioning and market opportunity sizing</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Q1 2025 budget allocation and investment prioritization</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Technology roadmap and attribution capabilities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Sales-marketing alignment and lead quality metrics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Appendix: Glossary of Terms &amp; Definitions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MQL (Marketing Qualified Lead): Prospect who meets defined engagement criteria and is passed to sales for qualification; typically 2+ campaign engagements or specific firmographic match</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SQL (Sales Qualified Lead): Prospect qualified by sales as meeting target criteria and requiring sales engagement; indicates sales interest in pursuing opportunity</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ACV (Average Contract Value): Average annual value of contracts signed; for TechNova target of €42,000; key metric of customer value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ROAS (Return on Ad Spend): Revenue generated divided by advertising spend; 4.2x ROAS means €4.20 revenue per €1 spent (blended across channels)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CAC (Customer Acquisition Cost): Average cost to acquire one customer; calculated as total marketing spend divided by customers acquired; target €156 in Q4</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3E3E5"/>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nchor="ctr"/>
          <a:lstStyle/>
          <a:p>
            <a:pPr indent="0" marL="0">
              <a:buNone/>
            </a:pPr>
            <a:r>
              <a:rPr lang="en-US" sz="3200" b="1" dirty="0">
                <a:solidFill>
                  <a:srgbClr val="621563"/>
                </a:solidFill>
                <a:latin typeface="Arial" pitchFamily="34" charset="0"/>
                <a:ea typeface="Arial" pitchFamily="34" charset="-122"/>
                <a:cs typeface="Arial" pitchFamily="34" charset="-120"/>
              </a:rPr>
              <a:t>Appendix: Methodology &amp; Data Sources</a:t>
            </a:r>
            <a:endParaRPr lang="en-US" sz="3200" dirty="0"/>
          </a:p>
        </p:txBody>
      </p:sp>
      <p:sp>
        <p:nvSpPr>
          <p:cNvPr id="3" name="Text 1"/>
          <p:cNvSpPr/>
          <p:nvPr/>
        </p:nvSpPr>
        <p:spPr>
          <a:xfrm>
            <a:off x="0" y="0"/>
            <a:ext cx="6858000" cy="0"/>
          </a:xfrm>
          <a:prstGeom prst="rect">
            <a:avLst/>
          </a:prstGeom>
          <a:noFill/>
          <a:ln/>
        </p:spPr>
        <p:txBody>
          <a:bodyPr wrap="square" rtlCol="0" anchor="ctr"/>
          <a:lstStyle/>
          <a:p>
            <a:pPr marL="342900" indent="-342900">
              <a:buSzPct val="100000"/>
              <a:buChar char="•"/>
            </a:pPr>
            <a:r>
              <a:rPr lang="en-US" sz="1200" dirty="0">
                <a:solidFill>
                  <a:srgbClr val="000000"/>
                </a:solidFill>
                <a:latin typeface="Arial" pitchFamily="34" charset="0"/>
                <a:ea typeface="Arial" pitchFamily="34" charset="-122"/>
                <a:cs typeface="Arial" pitchFamily="34" charset="-120"/>
              </a:rPr>
              <a:t>Data Sources: Google Ads, Google Analytics 4, LinkedIn Campaign Manager, HubSpot CRM, Salesforce pipeline database</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Attribution Model: Multi-touch attribution using first-click and last-click weighted 40%/60%, with direct (brand) search weighted separately; assisted conversions excluded from primary metrics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Lead Quality Assessment: MQL-to-SQL conversion rate and average lead value used as primary quality metrics; win rate on closed deals secondary validation</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Persona Identification: Based on LinkedIn profile data, first-party CRM fields, and sales team feedback; updated quarterly based on win/loss analysis</a:t>
            </a:r>
            <a:endParaRPr lang="en-US" sz="1200" dirty="0"/>
          </a:p>
          <a:p>
            <a:pPr marL="342900" indent="-342900">
              <a:buSzPct val="100000"/>
              <a:buChar char="•"/>
            </a:pPr>
            <a:r>
              <a:rPr lang="en-US" sz="1200" dirty="0">
                <a:solidFill>
                  <a:srgbClr val="000000"/>
                </a:solidFill>
                <a:latin typeface="Arial" pitchFamily="34" charset="0"/>
                <a:ea typeface="Arial" pitchFamily="34" charset="-122"/>
                <a:cs typeface="Arial" pitchFamily="34" charset="-120"/>
              </a:rPr>
              <a:t>Performance Periods: Q4 = October 1 - December 31; Q3 = July 1 - September 30; Full Year 2024 = January 1 - December 31; monthly averages for Q4 represent Oct+Nov+Dec/3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TechNova Q4 2024 Campaign Strategy</dc:title>
  <dc:subject>PptxGenJS Presentation</dc:subject>
  <dc:creator>Xebia</dc:creator>
  <cp:lastModifiedBy>Xebia</cp:lastModifiedBy>
  <cp:revision>1</cp:revision>
  <dcterms:created xsi:type="dcterms:W3CDTF">2026-04-13T09:58:41Z</dcterms:created>
  <dcterms:modified xsi:type="dcterms:W3CDTF">2026-04-13T09:58:41Z</dcterms:modified>
</cp:coreProperties>
</file>